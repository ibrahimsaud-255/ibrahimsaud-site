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الميزانية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A200"/>
              </a:solidFill>
              <a:effectLst/>
            </c:spPr>
          </c:dPt>
          <c:dPt>
            <c:idx val="1"/>
            <c:bubble3D val="0"/>
            <c:spPr>
              <a:solidFill>
                <a:srgbClr val="FFC20E"/>
              </a:solidFill>
              <a:effectLst/>
            </c:spPr>
          </c:dPt>
          <c:dPt>
            <c:idx val="2"/>
            <c:bubble3D val="0"/>
            <c:spPr>
              <a:solidFill>
                <a:srgbClr val="8A7A45"/>
              </a:solidFill>
              <a:effectLst/>
            </c:spPr>
          </c:dPt>
          <c:dPt>
            <c:idx val="3"/>
            <c:bubble3D val="0"/>
            <c:spPr>
              <a:solidFill>
                <a:srgbClr val="B3A26B"/>
              </a:solidFill>
              <a:effectLst/>
            </c:spPr>
          </c:dPt>
          <c:dPt>
            <c:idx val="4"/>
            <c:bubble3D val="0"/>
            <c:spPr>
              <a:solidFill>
                <a:srgbClr val="6B665E"/>
              </a:solidFill>
              <a:effectLst/>
            </c:spPr>
          </c:dPt>
          <c:dPt>
            <c:idx val="5"/>
            <c:bubble3D val="0"/>
            <c:spPr>
              <a:solidFill>
                <a:srgbClr val="3E3A33"/>
              </a:solidFill>
              <a:effectLst/>
            </c:spPr>
          </c:dPt>
          <c:dPt>
            <c:idx val="6"/>
            <c:bubble3D val="0"/>
            <c:spPr>
              <a:solidFill>
                <a:srgbClr val="CBB87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إيجار المحل (دفعة 6 أشهر)</c:v>
                </c:pt>
                <c:pt idx="1">
                  <c:v>أجهزة وطابعات</c:v>
                </c:pt>
                <c:pt idx="2">
                  <c:v>مستهلكات أولية</c:v>
                </c:pt>
                <c:pt idx="3">
                  <c:v>تراخيص وتأسيس</c:v>
                </c:pt>
                <c:pt idx="4">
                  <c:v>لوحة وتجهيز المحل</c:v>
                </c:pt>
                <c:pt idx="5">
                  <c:v>تسويق الافتتاح</c:v>
                </c:pt>
                <c:pt idx="6">
                  <c:v>احتياطي تشغيل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5500</c:v>
                </c:pt>
                <c:pt idx="1">
                  <c:v>7300</c:v>
                </c:pt>
                <c:pt idx="2">
                  <c:v>1500</c:v>
                </c:pt>
                <c:pt idx="3">
                  <c:v>1200</c:v>
                </c:pt>
                <c:pt idx="4">
                  <c:v>1500</c:v>
                </c:pt>
                <c:pt idx="5">
                  <c:v>800</c:v>
                </c:pt>
                <c:pt idx="6">
                  <c:v>2200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 الشهري</c:v>
                </c:pt>
              </c:strCache>
            </c:strRef>
          </c:tx>
          <c:spPr>
            <a:solidFill>
              <a:srgbClr val="FFC2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3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متحفظ (150/يوم)</c:v>
                  </c:pt>
                  <c:pt idx="1">
                    <c:v>واقعي (300/يوم)</c:v>
                  </c:pt>
                  <c:pt idx="2">
                    <c:v>طموح (500/يوم)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3900</c:v>
                </c:pt>
                <c:pt idx="1">
                  <c:v>7800</c:v>
                </c:pt>
                <c:pt idx="2">
                  <c:v>13000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صافي الربح التقريبي</c:v>
                </c:pt>
              </c:strCache>
            </c:strRef>
          </c:tx>
          <c:spPr>
            <a:solidFill>
              <a:srgbClr val="3E3A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3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متحفظ (150/يوم)</c:v>
                  </c:pt>
                  <c:pt idx="1">
                    <c:v>واقعي (300/يوم)</c:v>
                  </c:pt>
                  <c:pt idx="2">
                    <c:v>طموح (500/يوم)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1250</c:v>
                </c:pt>
                <c:pt idx="1">
                  <c:v>4180</c:v>
                </c:pt>
                <c:pt idx="2">
                  <c:v>8080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23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9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6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26231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racious-bold-cori/mnt/ibrahimsaud-site/logo_ibrahimsa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20040"/>
            <a:ext cx="1920240" cy="1920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3317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مكتب الخدمات العامة والطباعة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312724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FC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تنفيذية متكاملة لمشروع إبراهيم سعود — محافظة الأحساء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رأس المال المطلوب: </a:t>
            </a:r>
            <a:pPr algn="ctr" indent="0" marL="0">
              <a:buNone/>
            </a:pPr>
            <a:r>
              <a:rPr lang="en-US" sz="1500" b="1" dirty="0">
                <a:solidFill>
                  <a:srgbClr val="FFC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ريال</a:t>
            </a:r>
            <a:pPr algn="ctr" indent="0" marL="0">
              <a:buNone/>
            </a:pPr>
            <a:r>
              <a:rPr lang="en-US" sz="1500" dirty="0">
                <a:solidFill>
                  <a:srgbClr val="CF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يوليو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 التنفيذي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الفكرة: </a:t>
            </a:r>
            <a:pPr algn="r" indent="0" marL="0">
              <a:buNone/>
            </a:pPr>
            <a:r>
              <a:rPr lang="en-US" sz="15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‏مكتب خدمات عامة وطباعة في موقع مجرَّب بجانب محلات الورد في الأحساء، يجمع بين الخدمات التقليدية (طباعة، تصوير، معاملات حكومية) وخدمات حديثة لا يقدمها المنافسون: التصميم، الستكرات، المونتاج، والسير الذاتية بأدوات الذكاء الاصطناعي.‏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النموذج: دخل يومي نقدي يغطي التكاليف بسرعة، مع بناء عمل إعلامي (استوديو + محتوى) فوق قاعدة مالية مستقرة — شركة شخص واحد مدعومة بنظام ERP جاهز.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3200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ريال رأس المال الكامل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83180" y="306324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3180" y="3200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11,000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74620" y="3931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ريال الإيجار السنوي فقط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306324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3200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800600" y="3931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ريال نقطة التعادل اليومية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35140" y="306324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35140" y="3200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926580" y="3931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رئيسية من يوم واحد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الأحساء؟ سوق ينمو وتكلفة منخفضة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1463040"/>
          </a:xfrm>
          <a:prstGeom prst="roundRect">
            <a:avLst>
              <a:gd name="adj" fmla="val 5625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612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1.1+ مليون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نسمة في المحافظة — قاعدة عملاء واسعة من الأفراد والمحلات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1463040"/>
          </a:xfrm>
          <a:prstGeom prst="roundRect">
            <a:avLst>
              <a:gd name="adj" fmla="val 5625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1612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3.5 - 4 مليون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92040" y="1709928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زائر سنويًا — طلب متزايد على الخدمات والمطبوعات والفعاليات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77640" cy="1463040"/>
          </a:xfrm>
          <a:prstGeom prst="roundRect">
            <a:avLst>
              <a:gd name="adj" fmla="val 5625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85292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مليار ريال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3401568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مشاريع سياحية ممكَّنة من صندوق التنمية السياحي في المحافظة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743200"/>
            <a:ext cx="3977640" cy="1463040"/>
          </a:xfrm>
          <a:prstGeom prst="roundRect">
            <a:avLst>
              <a:gd name="adj" fmla="val 5625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285292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موقع يونسكو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92040" y="3401568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واحة نخيل في العالم — طفرة مشاريع تحتاج محتوى وتوثيقًا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المصادر: الهيئة العامة للإحصاء (تعداد 2022)، صندوق التنمية السياحي، وكالة الأنباء السعودية، هيئة تطوير الأحساء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السوق والمنافسة: أين الفجوة؟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09160" y="1005840"/>
            <a:ext cx="3977640" cy="3246120"/>
          </a:xfrm>
          <a:prstGeom prst="roundRect">
            <a:avLst>
              <a:gd name="adj" fmla="val 2535"/>
            </a:avLst>
          </a:prstGeom>
          <a:solidFill>
            <a:srgbClr val="F4F2EE"/>
          </a:solidFill>
          <a:ln/>
        </p:spPr>
      </p:sp>
      <p:sp>
        <p:nvSpPr>
          <p:cNvPr id="4" name="Text 2"/>
          <p:cNvSpPr/>
          <p:nvPr/>
        </p:nvSpPr>
        <p:spPr>
          <a:xfrm>
            <a:off x="4892040" y="1143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الحالي في الأحساء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892040" y="164592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‏• مكاتب خدمات تقليدية: نسخ وطباعة ومعاملات فقط</a:t>
            </a:r>
            <a:endParaRPr lang="en-US" sz="13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‏• جودة تصميم منخفضة وسرعة إنجاز بطيئة</a:t>
            </a:r>
            <a:endParaRPr lang="en-US" sz="13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‏• لا أحد يستخدم الذكاء الاصطناعي في تقديم الخدمة</a:t>
            </a:r>
            <a:endParaRPr lang="en-US" sz="13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‏• المطابع الكبيرة تخدم الكميات، وتهمل الأفراد والمحلات الصغيرة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77640" cy="3246120"/>
          </a:xfrm>
          <a:prstGeom prst="roundRect">
            <a:avLst>
              <a:gd name="adj" fmla="val 2535"/>
            </a:avLst>
          </a:prstGeom>
          <a:solidFill>
            <a:srgbClr val="FCF6E2"/>
          </a:solidFill>
          <a:ln w="19050">
            <a:solidFill>
              <a:srgbClr val="FFC2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الفجوة التي نملؤها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‏• مكتب واحد يجمع: طباعة + تصميم + ستكرات + مونتاج + AI‏</a:t>
            </a:r>
            <a:endParaRPr lang="en-US" sz="13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‏• عملاء جاهزون: محلات الورد والهدايا المجاورة تحتاج كروتًا وستكرات يوميًا</a:t>
            </a:r>
            <a:endParaRPr lang="en-US" sz="13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‏• سرعة إنجاز بالدقائق بدل الأيام بفضل أدوات الذكاء الاصطناعي</a:t>
            </a:r>
            <a:endParaRPr lang="en-US" sz="1350" dirty="0"/>
          </a:p>
          <a:p>
            <a:pPr algn="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‏• إدارة رقمية كاملة: فواتير وعملاء ومحتوى عبر نظام ERP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الخلاصة: السوق موجود ويومي، والمنافسة تقليدية — التميز بالجودة والسرعة يحسم المعركة بسرعة.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الخدمات الست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89320" y="105156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92440" y="1188720"/>
            <a:ext cx="365760" cy="365760"/>
          </a:xfrm>
          <a:prstGeom prst="ellipse">
            <a:avLst/>
          </a:prstGeom>
          <a:solidFill>
            <a:srgbClr val="FFC20E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26480" y="1600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الطباعة والتصوير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أوراق، ملازم، أبحاث، عقود — أبيض/أسود وملون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49240" y="1188720"/>
            <a:ext cx="365760" cy="365760"/>
          </a:xfrm>
          <a:prstGeom prst="ellipse">
            <a:avLst/>
          </a:prstGeom>
          <a:solidFill>
            <a:srgbClr val="FFC20E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الستكرات والقص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ستكرات المحلات والمنتجات وكروت الإهداء بقصّ احترافي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105156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188720"/>
            <a:ext cx="365760" cy="365760"/>
          </a:xfrm>
          <a:prstGeom prst="ellipse">
            <a:avLst/>
          </a:prstGeom>
          <a:solidFill>
            <a:srgbClr val="FFC20E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16002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التصميم الجرافيكي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شعارات، هويات، إعلانات، ثيمات مناسبات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288036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2440" y="3017520"/>
            <a:ext cx="365760" cy="365760"/>
          </a:xfrm>
          <a:prstGeom prst="ellipse">
            <a:avLst/>
          </a:prstGeom>
          <a:solidFill>
            <a:srgbClr val="FFC20E"/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0" y="3429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الخدمات الإلكترونية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26480" y="3840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أبشر، قوى، بلدي — إنجاز معاملات الأفراد والمحلات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288036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49240" y="3017520"/>
            <a:ext cx="365760" cy="365760"/>
          </a:xfrm>
          <a:prstGeom prst="ellipse">
            <a:avLst/>
          </a:prstGeom>
          <a:solidFill>
            <a:srgbClr val="FFC20E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383280" y="3429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سير ذاتية بالـ AI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83280" y="3840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احترافي بالعربي والإنجليزي خلال دقائق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288036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06040" y="3017520"/>
            <a:ext cx="365760" cy="365760"/>
          </a:xfrm>
          <a:prstGeom prst="ellipse">
            <a:avLst/>
          </a:prstGeom>
          <a:solidFill>
            <a:srgbClr val="FFC20E"/>
          </a:solidFill>
          <a:ln/>
        </p:spPr>
      </p:sp>
      <p:sp>
        <p:nvSpPr>
          <p:cNvPr id="30" name="Text 28"/>
          <p:cNvSpPr/>
          <p:nvPr/>
        </p:nvSpPr>
        <p:spPr>
          <a:xfrm>
            <a:off x="26060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" y="3429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المونتاج والمحتوى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3840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مونتاج فيديو، محتوى سوشيال ميديا، بودكاست لاحقًا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سننجح؟ أصول جاهزة قبل البداية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0" y="1078992"/>
            <a:ext cx="384048" cy="384048"/>
          </a:xfrm>
          <a:prstGeom prst="ellipse">
            <a:avLst/>
          </a:prstGeom>
          <a:solidFill>
            <a:srgbClr val="FFC20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‏أدوات الذكاء الاصطناعي:  </a:t>
            </a:r>
            <a:pPr algn="r" indent="0" marL="0">
              <a:buNone/>
            </a:pPr>
            <a:r>
              <a:rPr lang="en-US" sz="14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‏إنجاز عمل 3 موظفين بشخص واحد — مُثبت عمليًا (3 سير ذاتية بـ 130 ريالًا في جلسة واحدة)‏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C20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‏نظام إدارة ومحاسبة جاهز:  </a:t>
            </a:r>
            <a:pPr algn="r" indent="0" marL="0">
              <a:buNone/>
            </a:pPr>
            <a:r>
              <a:rPr lang="en-US" sz="14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‏فواتير، عملاء، مبيعات، رادار محتوى ونشر تلقائي — مبني ومدفوع الثمن مسبقًا‏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0" y="2578608"/>
            <a:ext cx="384048" cy="384048"/>
          </a:xfrm>
          <a:prstGeom prst="ellipse">
            <a:avLst/>
          </a:prstGeom>
          <a:solidFill>
            <a:srgbClr val="FFC20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505456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‏استوديو بودكاست مجهز:  </a:t>
            </a:r>
            <a:pPr algn="r" indent="0" marL="0">
              <a:buNone/>
            </a:pPr>
            <a:r>
              <a:rPr lang="en-US" sz="14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‏ينتقل من الرياض ليصبح ذراع الإنتاج الإعلامي للمشروع‏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3328416"/>
            <a:ext cx="384048" cy="384048"/>
          </a:xfrm>
          <a:prstGeom prst="ellipse">
            <a:avLst/>
          </a:prstGeom>
          <a:solidFill>
            <a:srgbClr val="FFC20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255264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‏موقع استراتيجي مجرَّب:  </a:t>
            </a:r>
            <a:pPr algn="r" indent="0" marL="0">
              <a:buNone/>
            </a:pPr>
            <a:r>
              <a:rPr lang="en-US" sz="14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‏بجانب محل ورد ناجح ومحلات مناسبات — عملاء تجاريون خلف الباب مباشرة‏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4078224"/>
            <a:ext cx="384048" cy="384048"/>
          </a:xfrm>
          <a:prstGeom prst="ellipse">
            <a:avLst/>
          </a:prstGeom>
          <a:solidFill>
            <a:srgbClr val="FFC20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005072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‏تكاليف شخصية شبه معدومة:  </a:t>
            </a:r>
            <a:pPr algn="r" indent="0" marL="0">
              <a:buNone/>
            </a:pPr>
            <a:r>
              <a:rPr lang="en-US" sz="140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‏السكن مع العائلة يمنح صبرًا ماليًا لا يملكه أي منافس‏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رأس المال — 20,000 ريال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023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515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 ريال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إيجار المحل (دفعة 6 أشهر)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7,300 ريال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أجهزة وطابعات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 ريال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مستهلكات أولية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 ريال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تراخيص وتأسيس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 ريال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لوحة وتجهيز المحل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 ريال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تسويق الافتتاح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2,200 ريال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احتياطي تشغيل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 ريال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الإجمالي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الشراء من الرياض — الأجهزة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2834640"/>
                <a:gridCol w="2926080"/>
              </a:tblGrid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المصدر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السعر (ريال)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الغرض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الجهاز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جرير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طباعة ونسخ ومسح ملون A4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طابعة ليزر ملونة متعددة الوظائف (Canon/HP)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جرير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طباعة أبيض/أسود بكميات وتكلفة منخفضة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HP LaserJet Tank 1502w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جرير / المنيع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صور وستكرات ورقية بـ 6 ألوان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Epson EcoTank L8050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أمازون السعودية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قصّ ستكرات وفينيل احترافي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قطاعة Silhouette Cameo 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أمازون / جرير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تغليف حراري للوثائق والكروت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مغلّفة حرارية A3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جرير / ميرزا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قصّ وتجليد الملازم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جلوتينة قص + آلة تجليد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مكتبات الجملة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A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ورق، فينيل، أحبار، أغلفة، رولات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623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مستهلكات أولية (شهرين)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‏الإجمالي: 8,800 ريال — الأسعار تقريبية (يوليو 2026) وقابلة للتفاوض. أجهزة الحاسب والاستوديو مملوكة مسبقًا.‏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النموذج المالي: ثلاثة سيناريوهات شهرية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972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897880" y="11704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التكاليف الثابتة الشهرية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897880" y="14813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~1,670 ريال (إيجار 917 + كهرباء وإنترنت واشتراكات)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60720" y="22402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97880" y="23134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التعادل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97880" y="26243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~65 ريالًا يوميًا فقط — تحققت تجربتها فعليًا (130 ريالًا في جلسة واحدة)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33832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97880" y="34564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استرداد رأس المال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97880" y="37673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5 - 7 أشهر في السيناريو الواقعي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التنفيذ — 90 يومًا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0" y="1234440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52360" y="960120"/>
            <a:ext cx="512064" cy="512064"/>
          </a:xfrm>
          <a:prstGeom prst="ellipse">
            <a:avLst/>
          </a:prstGeom>
          <a:solidFill>
            <a:srgbClr val="FFC20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960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84848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الأسبوعان 1-2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84848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التأسيس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12280" y="23774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تجاري، رخصة بلدية، توثيق عقد الإيجار، حساب بنكي، التسجيل في معروف والضريبة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44568" y="1234440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21808" y="960120"/>
            <a:ext cx="512064" cy="512064"/>
          </a:xfrm>
          <a:prstGeom prst="ellipse">
            <a:avLst/>
          </a:prstGeom>
          <a:solidFill>
            <a:srgbClr val="FFC20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960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54296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الأسبوعان 3-4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54296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التجهيز والشراء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81728" y="23774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شراء الأجهزة من الرياض، نقل الاستوديو، اللوحة والديكور، الإنترنت ونقاط البيع، إدخال الأسعار في ERP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14016" y="1234440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91256" y="960120"/>
            <a:ext cx="512064" cy="512064"/>
          </a:xfrm>
          <a:prstGeom prst="ellipse">
            <a:avLst/>
          </a:prstGeom>
          <a:solidFill>
            <a:srgbClr val="FFC20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91256" y="960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23744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الشهر الثاني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23744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الإطلاق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51176" y="23774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افتتاح تجريبي، اتفاقيات محلات الورد، حملة سناب وتيك توك محلية، عروض افتتاح، خرائط قوقل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3464" y="1234440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1C1A1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60704" y="960120"/>
            <a:ext cx="512064" cy="512064"/>
          </a:xfrm>
          <a:prstGeom prst="ellipse">
            <a:avLst/>
          </a:prstGeom>
          <a:solidFill>
            <a:srgbClr val="FFC20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960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93192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FFC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الشهر الثالث +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3192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0624" y="237744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D8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أرقام ERP أسبوعيًا، تفعيل المونتاج والبودكاست، دراسة الاستقدام عبر قوى، التوسع بالشقة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 التنفيذية الأولى (تدخل في النظام)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617720" y="1051560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CF6E2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11064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1-3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54880" y="13441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إصدار السجل التجاري إلكترونيًا (طباعة وخدمات عامة)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4F2EE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1064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1-5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3441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رخصة بلدية عبر منصة بلدي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947672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CF6E2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20025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3-7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240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توقيع عقد الإيجار وتوثيقه في منصة إيجار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4F2EE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0025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5-10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240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 بنكي تجاري + التسجيل في معروف والفوترة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2843784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CF6E2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2898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10-14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31363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الشراء من الرياض (قائمة الأجهزة) + نقل الاستوديو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843784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4F2EE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2898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14-21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1363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اللوحة، الديكور، الإنترنت، نقاط البيع (مدى)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3739896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CF6E2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21-25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403250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إدخال الخدمات والأسعار والقوالب الجاهزة في ERP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739896"/>
            <a:ext cx="4069080" cy="777240"/>
          </a:xfrm>
          <a:prstGeom prst="roundRect">
            <a:avLst>
              <a:gd name="adj" fmla="val 8235"/>
            </a:avLst>
          </a:prstGeom>
          <a:solidFill>
            <a:srgbClr val="F4F2EE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25-30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03250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افتتاح تجريبي + اتفاقيات محلات الورد المجاورة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القائمة الكاملة (24 مهمة بأربع مراحل) مرفقة في ملف CSV جاهز للاستيراد في نظام ERP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المخاطر وكيف نتعامل معها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‏بطء الدخل في الأشهر الأولى  ←  </a:t>
            </a:r>
            <a:pPr algn="r"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‏نقطة التعادل منخفضة جدًا (65 ريالًا/يوم) + احتياطي تشغيل 2,200 ريال + لا التزامات سكن‏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7556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‏الارتباط الكامل بشخص واحد  ←  </a:t>
            </a:r>
            <a:pPr algn="r"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‏قوالب جاهزة وأتمتة بالذكاء الاصطناعي تسرّع كل طلب، ثم استقدام مصمم موثوق بعد استقرار الدخل‏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50545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‏تعطل الأجهزة  ←  </a:t>
            </a:r>
            <a:pPr algn="r"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‏الشراء من وكلاء معتمدين بضمان (جرير) + الاعتماد على جهازين للطباعة لا جهاز واحد‏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5526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‏دخول منافس مجاور  ←  </a:t>
            </a:r>
            <a:pPr algn="r"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‏عقود شهرية مسبقة مع محلات الورد + سمعة سرعة وجودة يصعب تقليدها بدون نفس الأدوات‏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‏تشتت الجهد بين المحل والإعلام  ←  </a:t>
            </a:r>
            <a:pPr algn="r" indent="0" marL="0">
              <a:buNone/>
            </a:pPr>
            <a:r>
              <a:rPr lang="en-US" sz="130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‏الأشهر الثلاثة الأولى للمحل فقط، والإعلام يبدأ تدريجيًا بعد استقرار الكاش اليومي‏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اقتراحات لتقوية الخطة (وش كان ناقص)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617720" y="100584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0" y="10789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باقات B2B شهرية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389888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اتفاقية ثابتة مع محلات الورد والمناسبات: كروت وستكرات شهرية بسعر مخفض — دخل مضمون متكرر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789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الفوترة الإلكترونية للمحلات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خدمة إعداد الفواتير والتسجيل الضريبي للمحلات الصغيرة — طلب إلزامي ومتكرر ولا يقدمه أحد حولك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224028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3134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واتساب + توصيل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624328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استقبال الطلبات عن بُعد وتوصيلها داخل الأحساء — يضاعف نطاق العملاء بدون تكلفة تذكر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134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محلي أحساوي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624328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 سناب/تيك توك يوثق قصص المحل والعملاء — تسويق مجاني ويخدم مشروعك الإعلامي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347472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5478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تشترِ كل شيء دفعة واحدة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858768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بالطابعتين والقطاعة، وأجّل ما تبقى حتى يثبت الطلب — قلل مخاطرة رأس المال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4069080" cy="1097280"/>
          </a:xfrm>
          <a:prstGeom prst="roundRect">
            <a:avLst>
              <a:gd name="adj" fmla="val 6667"/>
            </a:avLst>
          </a:prstGeom>
          <a:solidFill>
            <a:srgbClr val="FCF6E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5478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9A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تمويل التوسع لاحقًا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858768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62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6 أشهر من الأرقام في ERP، قدّم على بنك التنمية الاجتماعية لتمويل التوسع (الشقة والاستوديو) بدل القرض الآن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racious-bold-cori/mnt/ibrahimsaud-site/logo_ibrahimsa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36576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الخلاصة: فرصة مدروسة، مخاطرها شبه معدومة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FC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إيجار رمزي + موقع مجرَّب + أدوات جاهزة + خبرة مثبتة = بناء أصل حقيقي باسمك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68680" y="342900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2A2722"/>
          </a:solidFill>
          <a:ln w="12700">
            <a:solidFill>
              <a:srgbClr val="FFC20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3429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رحلة الشراء من الرياض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474720" y="342900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2A2722"/>
          </a:solidFill>
          <a:ln w="12700">
            <a:solidFill>
              <a:srgbClr val="FFC20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0" y="3429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توثيق عقد الإيجار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80760" y="342900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2A2722"/>
          </a:solidFill>
          <a:ln w="12700">
            <a:solidFill>
              <a:srgbClr val="FFC2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3429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إصدار السجل التجاري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CFC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توكل على الله وابدأ — الأرقام معك، والوقت مناسب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مشروع مكتب الخدمات العامة والطباعة - الأحساء</dc:title>
  <dc:subject>PptxGenJS Presentation</dc:subject>
  <dc:creator>إبراهيم سعود</dc:creator>
  <cp:lastModifiedBy>إبراهيم سعود</cp:lastModifiedBy>
  <cp:revision>1</cp:revision>
  <dcterms:created xsi:type="dcterms:W3CDTF">2026-07-07T23:47:51Z</dcterms:created>
  <dcterms:modified xsi:type="dcterms:W3CDTF">2026-07-07T23:47:51Z</dcterms:modified>
</cp:coreProperties>
</file>